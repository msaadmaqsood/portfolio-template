
<file path=[Content_Types].xml><?xml version="1.0" encoding="utf-8"?>
<Types xmlns="http://schemas.openxmlformats.org/package/2006/content-types">
  <Default Extension="6d64af7f-4437-424b-9f2a-80174d5a2e8e" ContentType="image/pn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0"/>
  </p:notesMasterIdLst>
  <p:sldIdLst>
    <p:sldId id="256" r:id="rId2"/>
    <p:sldId id="257" r:id="rId3"/>
    <p:sldId id="258" r:id="rId4"/>
    <p:sldId id="291" r:id="rId5"/>
    <p:sldId id="292" r:id="rId6"/>
    <p:sldId id="313" r:id="rId7"/>
    <p:sldId id="311" r:id="rId8"/>
    <p:sldId id="312" r:id="rId9"/>
  </p:sldIdLst>
  <p:sldSz cx="9144000" cy="5143500" type="screen16x9"/>
  <p:notesSz cx="6858000" cy="9144000"/>
  <p:embeddedFontLst>
    <p:embeddedFont>
      <p:font typeface="Advent Pro" panose="020B0604020202020204" charset="0"/>
      <p:regular r:id="rId11"/>
      <p:bold r:id="rId12"/>
      <p:italic r:id="rId13"/>
      <p:boldItalic r:id="rId14"/>
    </p:embeddedFont>
    <p:embeddedFont>
      <p:font typeface="Alumni Sans Pinstripe" panose="020B0604020202020204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370F0B-A904-4E3B-AF89-164FA076B2A4}">
  <a:tblStyle styleId="{40370F0B-A904-4E3B-AF89-164FA076B2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0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11bc263f5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Google Shape;5124;g12937d05419_0_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5" name="Google Shape;5125;g12937d05419_0_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>
          <a:extLst>
            <a:ext uri="{FF2B5EF4-FFF2-40B4-BE49-F238E27FC236}">
              <a16:creationId xmlns:a16="http://schemas.microsoft.com/office/drawing/2014/main" id="{6243C132-DE33-5EA2-B8CF-CF1F6BD7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>
            <a:extLst>
              <a:ext uri="{FF2B5EF4-FFF2-40B4-BE49-F238E27FC236}">
                <a16:creationId xmlns:a16="http://schemas.microsoft.com/office/drawing/2014/main" id="{01EC227F-696D-4DA2-31A5-B55555072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>
            <a:extLst>
              <a:ext uri="{FF2B5EF4-FFF2-40B4-BE49-F238E27FC236}">
                <a16:creationId xmlns:a16="http://schemas.microsoft.com/office/drawing/2014/main" id="{58F365C1-05BD-3E53-5BC2-5E7FB0D64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095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>
          <a:extLst>
            <a:ext uri="{FF2B5EF4-FFF2-40B4-BE49-F238E27FC236}">
              <a16:creationId xmlns:a16="http://schemas.microsoft.com/office/drawing/2014/main" id="{277B8C12-343E-F50F-AA8A-23E559C6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>
            <a:extLst>
              <a:ext uri="{FF2B5EF4-FFF2-40B4-BE49-F238E27FC236}">
                <a16:creationId xmlns:a16="http://schemas.microsoft.com/office/drawing/2014/main" id="{681CB6AA-5020-F009-AEF3-24E188A80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5" name="Google Shape;5135;g12937d05419_0_765:notes">
            <a:extLst>
              <a:ext uri="{FF2B5EF4-FFF2-40B4-BE49-F238E27FC236}">
                <a16:creationId xmlns:a16="http://schemas.microsoft.com/office/drawing/2014/main" id="{7FDB616B-5443-FB01-5EC4-F1ADF102D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7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277" name="Google Shape;277;p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4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313" name="Google Shape;313;p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" name="Google Shape;380;p4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8719456" y="513232"/>
            <a:ext cx="326167" cy="2227568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3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9" name="Google Shape;919;p13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3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1" name="Google Shape;921;p13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3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3" name="Google Shape;923;p13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3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5" name="Google Shape;925;p13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9" hasCustomPrompt="1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7" name="Google Shape;927;p13"/>
          <p:cNvSpPr txBox="1">
            <a:spLocks noGrp="1"/>
          </p:cNvSpPr>
          <p:nvPr>
            <p:ph type="title" idx="13" hasCustomPrompt="1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9" name="Google Shape;9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30" name="Google Shape;93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37325" y="3653261"/>
            <a:ext cx="2885125" cy="1921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13"/>
          <p:cNvGrpSpPr/>
          <p:nvPr/>
        </p:nvGrpSpPr>
        <p:grpSpPr>
          <a:xfrm rot="5400000">
            <a:off x="-1082747" y="1310115"/>
            <a:ext cx="2227588" cy="726522"/>
            <a:chOff x="3857800" y="1143286"/>
            <a:chExt cx="1039375" cy="338989"/>
          </a:xfrm>
        </p:grpSpPr>
        <p:sp>
          <p:nvSpPr>
            <p:cNvPr id="932" name="Google Shape;932;p1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3"/>
          <p:cNvGrpSpPr/>
          <p:nvPr/>
        </p:nvGrpSpPr>
        <p:grpSpPr>
          <a:xfrm flipH="1">
            <a:off x="8430779" y="791666"/>
            <a:ext cx="2227588" cy="726522"/>
            <a:chOff x="3620725" y="372750"/>
            <a:chExt cx="1039375" cy="338989"/>
          </a:xfrm>
        </p:grpSpPr>
        <p:sp>
          <p:nvSpPr>
            <p:cNvPr id="963" name="Google Shape;963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13"/>
          <p:cNvSpPr/>
          <p:nvPr/>
        </p:nvSpPr>
        <p:spPr>
          <a:xfrm rot="8403335">
            <a:off x="-394847" y="-476389"/>
            <a:ext cx="1410650" cy="1410650"/>
          </a:xfrm>
          <a:prstGeom prst="blockArc">
            <a:avLst>
              <a:gd name="adj1" fmla="val 10800000"/>
              <a:gd name="adj2" fmla="val 138617"/>
              <a:gd name="adj3" fmla="val 21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3"/>
          <p:cNvSpPr/>
          <p:nvPr/>
        </p:nvSpPr>
        <p:spPr>
          <a:xfrm>
            <a:off x="-395376" y="-2179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13"/>
          <p:cNvGrpSpPr/>
          <p:nvPr/>
        </p:nvGrpSpPr>
        <p:grpSpPr>
          <a:xfrm>
            <a:off x="7753454" y="-41534"/>
            <a:ext cx="2227588" cy="726522"/>
            <a:chOff x="3620725" y="372750"/>
            <a:chExt cx="1039375" cy="338989"/>
          </a:xfrm>
        </p:grpSpPr>
        <p:sp>
          <p:nvSpPr>
            <p:cNvPr id="999" name="Google Shape;999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3899975"/>
            <a:ext cx="1041075" cy="109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13"/>
          <p:cNvGrpSpPr/>
          <p:nvPr/>
        </p:nvGrpSpPr>
        <p:grpSpPr>
          <a:xfrm>
            <a:off x="782362" y="4049869"/>
            <a:ext cx="317072" cy="126020"/>
            <a:chOff x="4481802" y="1143286"/>
            <a:chExt cx="147943" cy="58800"/>
          </a:xfrm>
        </p:grpSpPr>
        <p:sp>
          <p:nvSpPr>
            <p:cNvPr id="1038" name="Google Shape;10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13"/>
          <p:cNvGrpSpPr/>
          <p:nvPr/>
        </p:nvGrpSpPr>
        <p:grpSpPr>
          <a:xfrm>
            <a:off x="4850553" y="4656385"/>
            <a:ext cx="2227589" cy="726958"/>
            <a:chOff x="6972150" y="711750"/>
            <a:chExt cx="1039375" cy="339193"/>
          </a:xfrm>
        </p:grpSpPr>
        <p:sp>
          <p:nvSpPr>
            <p:cNvPr id="1041" name="Google Shape;1041;p1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2" name="Google Shape;10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775" y="280525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3"/>
          <p:cNvSpPr/>
          <p:nvPr/>
        </p:nvSpPr>
        <p:spPr>
          <a:xfrm rot="999904">
            <a:off x="3358951" y="4439227"/>
            <a:ext cx="2408148" cy="2408148"/>
          </a:xfrm>
          <a:prstGeom prst="blockArc">
            <a:avLst>
              <a:gd name="adj1" fmla="val 10800000"/>
              <a:gd name="adj2" fmla="val 122097"/>
              <a:gd name="adj3" fmla="val 1551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"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22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35" name="Google Shape;1835;p22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836" name="Google Shape;1836;p22"/>
          <p:cNvGrpSpPr/>
          <p:nvPr/>
        </p:nvGrpSpPr>
        <p:grpSpPr>
          <a:xfrm rot="5400000">
            <a:off x="-809808" y="679905"/>
            <a:ext cx="2227588" cy="726522"/>
            <a:chOff x="3799000" y="1820400"/>
            <a:chExt cx="1039375" cy="338989"/>
          </a:xfrm>
        </p:grpSpPr>
        <p:sp>
          <p:nvSpPr>
            <p:cNvPr id="1837" name="Google Shape;1837;p2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2" name="Google Shape;1872;p22"/>
          <p:cNvGrpSpPr/>
          <p:nvPr/>
        </p:nvGrpSpPr>
        <p:grpSpPr>
          <a:xfrm>
            <a:off x="8402730" y="2587316"/>
            <a:ext cx="2227589" cy="1527191"/>
            <a:chOff x="5519300" y="372750"/>
            <a:chExt cx="1039375" cy="712575"/>
          </a:xfrm>
        </p:grpSpPr>
        <p:sp>
          <p:nvSpPr>
            <p:cNvPr id="1873" name="Google Shape;1873;p2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0" name="Google Shape;1940;p22"/>
          <p:cNvSpPr/>
          <p:nvPr/>
        </p:nvSpPr>
        <p:spPr>
          <a:xfrm rot="-899876">
            <a:off x="8160183" y="3901748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22"/>
          <p:cNvSpPr/>
          <p:nvPr/>
        </p:nvSpPr>
        <p:spPr>
          <a:xfrm>
            <a:off x="8167884" y="4291480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22"/>
          <p:cNvSpPr/>
          <p:nvPr/>
        </p:nvSpPr>
        <p:spPr>
          <a:xfrm flipH="1">
            <a:off x="-2104850" y="2015612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22"/>
          <p:cNvSpPr/>
          <p:nvPr/>
        </p:nvSpPr>
        <p:spPr>
          <a:xfrm flipH="1">
            <a:off x="-1488152" y="2128389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4" name="Google Shape;194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074" y="3095000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22"/>
          <p:cNvSpPr/>
          <p:nvPr/>
        </p:nvSpPr>
        <p:spPr>
          <a:xfrm rot="-3508339">
            <a:off x="8149368" y="-1588885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59" r:id="rId5"/>
    <p:sldLayoutId id="2147483668" r:id="rId6"/>
    <p:sldLayoutId id="2147483679" r:id="rId7"/>
    <p:sldLayoutId id="214748368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6d64af7f-4437-424b-9f2a-80174d5a2e8e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0173">
            <a:off x="509632" y="1835569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7" name="Google Shape;3127;p38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8" name="Google Shape;3148;p38"/>
          <p:cNvSpPr txBox="1">
            <a:spLocks noGrp="1"/>
          </p:cNvSpPr>
          <p:nvPr>
            <p:ph type="ctrTitle"/>
          </p:nvPr>
        </p:nvSpPr>
        <p:spPr>
          <a:xfrm>
            <a:off x="3405937" y="1580674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CYBER</a:t>
            </a:r>
            <a:r>
              <a:rPr lang="en" b="0" dirty="0"/>
              <a:t>SECURITY </a:t>
            </a:r>
            <a:r>
              <a:rPr lang="en" sz="4000" b="0" dirty="0"/>
              <a:t>Final </a:t>
            </a:r>
            <a:r>
              <a:rPr lang="en-US" sz="4000" b="0" dirty="0"/>
              <a:t>Project</a:t>
            </a:r>
            <a:endParaRPr sz="4000" b="0" dirty="0"/>
          </a:p>
        </p:txBody>
      </p:sp>
      <p:sp>
        <p:nvSpPr>
          <p:cNvPr id="3149" name="Google Shape;3149;p38"/>
          <p:cNvSpPr txBox="1">
            <a:spLocks noGrp="1"/>
          </p:cNvSpPr>
          <p:nvPr>
            <p:ph type="subTitle" idx="1"/>
          </p:nvPr>
        </p:nvSpPr>
        <p:spPr>
          <a:xfrm>
            <a:off x="6003258" y="3820514"/>
            <a:ext cx="237863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Student: </a:t>
            </a:r>
            <a:r>
              <a:rPr lang="en" b="1" dirty="0"/>
              <a:t>Denie Radu</a:t>
            </a:r>
            <a:endParaRPr b="1" dirty="0"/>
          </a:p>
        </p:txBody>
      </p:sp>
      <p:pic>
        <p:nvPicPr>
          <p:cNvPr id="3151" name="Google Shape;31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182" y="1731889"/>
            <a:ext cx="835806" cy="9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9600" y="3010128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149;p38">
            <a:extLst>
              <a:ext uri="{FF2B5EF4-FFF2-40B4-BE49-F238E27FC236}">
                <a16:creationId xmlns:a16="http://schemas.microsoft.com/office/drawing/2014/main" id="{9BEAF60B-E2DF-6B0B-B13A-DAF587429BA3}"/>
              </a:ext>
            </a:extLst>
          </p:cNvPr>
          <p:cNvSpPr txBox="1">
            <a:spLocks/>
          </p:cNvSpPr>
          <p:nvPr/>
        </p:nvSpPr>
        <p:spPr>
          <a:xfrm>
            <a:off x="2981514" y="4622424"/>
            <a:ext cx="237863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1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/>
            <a:r>
              <a:rPr lang="en-US" dirty="0"/>
              <a:t>2026, April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E97C6-194B-4653-4B05-7524C4B6F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16" y="3567846"/>
            <a:ext cx="1236392" cy="695472"/>
          </a:xfrm>
          <a:prstGeom prst="rect">
            <a:avLst/>
          </a:prstGeom>
        </p:spPr>
      </p:pic>
      <p:sp>
        <p:nvSpPr>
          <p:cNvPr id="7" name="Google Shape;3149;p38">
            <a:extLst>
              <a:ext uri="{FF2B5EF4-FFF2-40B4-BE49-F238E27FC236}">
                <a16:creationId xmlns:a16="http://schemas.microsoft.com/office/drawing/2014/main" id="{B82C5174-197C-42A0-D6DA-FD4C9EECFA31}"/>
              </a:ext>
            </a:extLst>
          </p:cNvPr>
          <p:cNvSpPr txBox="1">
            <a:spLocks/>
          </p:cNvSpPr>
          <p:nvPr/>
        </p:nvSpPr>
        <p:spPr>
          <a:xfrm>
            <a:off x="714182" y="2343786"/>
            <a:ext cx="2547763" cy="86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1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/>
            <a:r>
              <a:rPr lang="en-US" b="1" dirty="0"/>
              <a:t>SecuritateIT.com </a:t>
            </a:r>
          </a:p>
          <a:p>
            <a:pPr marL="0" indent="0"/>
            <a:r>
              <a:rPr lang="en-US" dirty="0"/>
              <a:t> Romanian Cyber Security School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9"/>
          <p:cNvSpPr txBox="1">
            <a:spLocks noGrp="1"/>
          </p:cNvSpPr>
          <p:nvPr>
            <p:ph type="title"/>
          </p:nvPr>
        </p:nvSpPr>
        <p:spPr>
          <a:xfrm>
            <a:off x="706500" y="611508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Objectives</a:t>
            </a:r>
            <a:endParaRPr dirty="0"/>
          </a:p>
        </p:txBody>
      </p:sp>
      <p:graphicFrame>
        <p:nvGraphicFramePr>
          <p:cNvPr id="3161" name="Google Shape;3161;p39"/>
          <p:cNvGraphicFramePr/>
          <p:nvPr>
            <p:extLst>
              <p:ext uri="{D42A27DB-BD31-4B8C-83A1-F6EECF244321}">
                <p14:modId xmlns:p14="http://schemas.microsoft.com/office/powerpoint/2010/main" val="3351943980"/>
              </p:ext>
            </p:extLst>
          </p:nvPr>
        </p:nvGraphicFramePr>
        <p:xfrm>
          <a:off x="720000" y="1795975"/>
          <a:ext cx="7704000" cy="2533572"/>
        </p:xfrm>
        <a:graphic>
          <a:graphicData uri="http://schemas.openxmlformats.org/drawingml/2006/table">
            <a:tbl>
              <a:tblPr>
                <a:noFill/>
                <a:tableStyleId>{40370F0B-A904-4E3B-AF89-164FA076B2A4}</a:tableStyleId>
              </a:tblPr>
              <a:tblGrid>
                <a:gridCol w="244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Main goal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Building a vulnerable website and securing it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Objective 1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Identifying web vulnerabilities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Objective 2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Demonstrating real attacks (SQL Injection, XSS,MITM brute force)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Objective 3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Applying security measures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Objective 4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Comparing results before and after securing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Final objective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Understanding the complete penetration testing process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164" name="Google Shape;3164;p39"/>
          <p:cNvGrpSpPr/>
          <p:nvPr/>
        </p:nvGrpSpPr>
        <p:grpSpPr>
          <a:xfrm>
            <a:off x="2139558" y="81885"/>
            <a:ext cx="1654433" cy="326624"/>
            <a:chOff x="7549958" y="-1584240"/>
            <a:chExt cx="1654433" cy="326624"/>
          </a:xfrm>
        </p:grpSpPr>
        <p:sp>
          <p:nvSpPr>
            <p:cNvPr id="3165" name="Google Shape;3165;p39"/>
            <p:cNvSpPr/>
            <p:nvPr/>
          </p:nvSpPr>
          <p:spPr>
            <a:xfrm>
              <a:off x="9078371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39"/>
            <p:cNvSpPr/>
            <p:nvPr/>
          </p:nvSpPr>
          <p:spPr>
            <a:xfrm>
              <a:off x="8696268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39"/>
            <p:cNvSpPr/>
            <p:nvPr/>
          </p:nvSpPr>
          <p:spPr>
            <a:xfrm>
              <a:off x="8314164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39"/>
            <p:cNvSpPr/>
            <p:nvPr/>
          </p:nvSpPr>
          <p:spPr>
            <a:xfrm>
              <a:off x="8123113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9"/>
            <p:cNvSpPr/>
            <p:nvPr/>
          </p:nvSpPr>
          <p:spPr>
            <a:xfrm>
              <a:off x="888731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9"/>
            <p:cNvSpPr/>
            <p:nvPr/>
          </p:nvSpPr>
          <p:spPr>
            <a:xfrm>
              <a:off x="907837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9"/>
            <p:cNvSpPr/>
            <p:nvPr/>
          </p:nvSpPr>
          <p:spPr>
            <a:xfrm>
              <a:off x="8314164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9"/>
            <p:cNvSpPr/>
            <p:nvPr/>
          </p:nvSpPr>
          <p:spPr>
            <a:xfrm>
              <a:off x="8505216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9"/>
            <p:cNvSpPr/>
            <p:nvPr/>
          </p:nvSpPr>
          <p:spPr>
            <a:xfrm>
              <a:off x="8123113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9"/>
            <p:cNvSpPr/>
            <p:nvPr/>
          </p:nvSpPr>
          <p:spPr>
            <a:xfrm>
              <a:off x="774100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9"/>
            <p:cNvSpPr/>
            <p:nvPr/>
          </p:nvSpPr>
          <p:spPr>
            <a:xfrm>
              <a:off x="793206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9"/>
            <p:cNvSpPr/>
            <p:nvPr/>
          </p:nvSpPr>
          <p:spPr>
            <a:xfrm>
              <a:off x="7549958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828;p85">
            <a:extLst>
              <a:ext uri="{FF2B5EF4-FFF2-40B4-BE49-F238E27FC236}">
                <a16:creationId xmlns:a16="http://schemas.microsoft.com/office/drawing/2014/main" id="{38943AF4-006C-E4BE-327B-0B76BBB9A464}"/>
              </a:ext>
            </a:extLst>
          </p:cNvPr>
          <p:cNvSpPr/>
          <p:nvPr/>
        </p:nvSpPr>
        <p:spPr>
          <a:xfrm>
            <a:off x="6224454" y="393580"/>
            <a:ext cx="925838" cy="979071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3581;p43">
            <a:extLst>
              <a:ext uri="{FF2B5EF4-FFF2-40B4-BE49-F238E27FC236}">
                <a16:creationId xmlns:a16="http://schemas.microsoft.com/office/drawing/2014/main" id="{757A5C48-06B8-FA50-DD65-4F74F2B750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432" y="727887"/>
            <a:ext cx="383736" cy="506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151;p38">
            <a:extLst>
              <a:ext uri="{FF2B5EF4-FFF2-40B4-BE49-F238E27FC236}">
                <a16:creationId xmlns:a16="http://schemas.microsoft.com/office/drawing/2014/main" id="{81EC2E30-9DE5-23BF-5DC8-5D625BE09C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193" y="4481297"/>
            <a:ext cx="478375" cy="54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3919F1B-C950-7A45-7BC7-9985258585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932926" y="315822"/>
            <a:ext cx="7150555" cy="47670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550242" y="161490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Brain Map</a:t>
            </a:r>
            <a:endParaRPr dirty="0"/>
          </a:p>
        </p:txBody>
      </p:sp>
      <p:pic>
        <p:nvPicPr>
          <p:cNvPr id="28" name="Google Shape;3297;p41">
            <a:extLst>
              <a:ext uri="{FF2B5EF4-FFF2-40B4-BE49-F238E27FC236}">
                <a16:creationId xmlns:a16="http://schemas.microsoft.com/office/drawing/2014/main" id="{AD009BD0-1456-1FBB-E605-81D0FFB2083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6810" y="197099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290;p41">
            <a:extLst>
              <a:ext uri="{FF2B5EF4-FFF2-40B4-BE49-F238E27FC236}">
                <a16:creationId xmlns:a16="http://schemas.microsoft.com/office/drawing/2014/main" id="{22E43C24-B5A1-1FA7-23A8-BDA58D02C81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5" y="3537260"/>
            <a:ext cx="1358608" cy="1536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1" name="Google Shape;329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063" y="0"/>
            <a:ext cx="709250" cy="112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Google Shape;5128;p73"/>
          <p:cNvSpPr txBox="1">
            <a:spLocks noGrp="1"/>
          </p:cNvSpPr>
          <p:nvPr>
            <p:ph type="title"/>
          </p:nvPr>
        </p:nvSpPr>
        <p:spPr>
          <a:xfrm>
            <a:off x="1578451" y="12981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Software and Technologies Used</a:t>
            </a:r>
            <a:endParaRPr dirty="0"/>
          </a:p>
        </p:txBody>
      </p:sp>
      <p:pic>
        <p:nvPicPr>
          <p:cNvPr id="5129" name="Google Shape;512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964" y="3968167"/>
            <a:ext cx="619820" cy="102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0" name="Google Shape;513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6042" y="3888957"/>
            <a:ext cx="612232" cy="1022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2" name="Google Shape;5132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6756" y="4323041"/>
            <a:ext cx="1058046" cy="6677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19103F-40AB-C3B9-E021-BF52F468D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376126"/>
              </p:ext>
            </p:extLst>
          </p:nvPr>
        </p:nvGraphicFramePr>
        <p:xfrm>
          <a:off x="1706042" y="807935"/>
          <a:ext cx="6546721" cy="2867939"/>
        </p:xfrm>
        <a:graphic>
          <a:graphicData uri="http://schemas.openxmlformats.org/drawingml/2006/table">
            <a:tbl>
              <a:tblPr firstRow="1" firstCol="1" bandRow="1">
                <a:tableStyleId>{40370F0B-A904-4E3B-AF89-164FA076B2A4}</a:tableStyleId>
              </a:tblPr>
              <a:tblGrid>
                <a:gridCol w="1911830">
                  <a:extLst>
                    <a:ext uri="{9D8B030D-6E8A-4147-A177-3AD203B41FA5}">
                      <a16:colId xmlns:a16="http://schemas.microsoft.com/office/drawing/2014/main" val="3860845030"/>
                    </a:ext>
                  </a:extLst>
                </a:gridCol>
                <a:gridCol w="4634891">
                  <a:extLst>
                    <a:ext uri="{9D8B030D-6E8A-4147-A177-3AD203B41FA5}">
                      <a16:colId xmlns:a16="http://schemas.microsoft.com/office/drawing/2014/main" val="195899028"/>
                    </a:ext>
                  </a:extLst>
                </a:gridCol>
              </a:tblGrid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Category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Tools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723752978"/>
                  </a:ext>
                </a:extLst>
              </a:tr>
              <a:tr h="3334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Infrastructure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DigitalOcean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, Ubuntu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379597017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Web Server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Apache / Nginx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3123563138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Database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MySQL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1934508917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CMS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WordPress (custom theme)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2577893989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Attacking Machine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Kali Linux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1701724676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Attack Tools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sqlmap, Hydra, Burp Suite, OWASP ZAP, Nikto, Wireshark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1765728380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Security Tools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Cloudflare,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Certbot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, Google reCAPTCHA,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Wordfence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640942774"/>
                  </a:ext>
                </a:extLst>
              </a:tr>
              <a:tr h="3168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Other Measures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Security Headers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799" marR="9799" marT="9799" marB="9799" anchor="ctr"/>
                </a:tc>
                <a:extLst>
                  <a:ext uri="{0D108BD9-81ED-4DB2-BD59-A6C34878D82A}">
                    <a16:rowId xmlns:a16="http://schemas.microsoft.com/office/drawing/2014/main" val="3303706818"/>
                  </a:ext>
                </a:extLst>
              </a:tr>
            </a:tbl>
          </a:graphicData>
        </a:graphic>
      </p:graphicFrame>
      <p:pic>
        <p:nvPicPr>
          <p:cNvPr id="3" name="Google Shape;3290;p41">
            <a:extLst>
              <a:ext uri="{FF2B5EF4-FFF2-40B4-BE49-F238E27FC236}">
                <a16:creationId xmlns:a16="http://schemas.microsoft.com/office/drawing/2014/main" id="{1A0E1FE0-5AAD-C834-6EF0-5F87D40D15D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4535" y="3966592"/>
            <a:ext cx="905420" cy="1024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Vulnerability Identification</a:t>
            </a:r>
            <a:endParaRPr dirty="0"/>
          </a:p>
        </p:txBody>
      </p:sp>
      <p:sp>
        <p:nvSpPr>
          <p:cNvPr id="5138" name="Google Shape;5138;p74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28B965-B26B-42A6-ADBF-CF19C592A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65120"/>
              </p:ext>
            </p:extLst>
          </p:nvPr>
        </p:nvGraphicFramePr>
        <p:xfrm>
          <a:off x="687572" y="1495647"/>
          <a:ext cx="7743640" cy="3122744"/>
        </p:xfrm>
        <a:graphic>
          <a:graphicData uri="http://schemas.openxmlformats.org/drawingml/2006/table">
            <a:tbl>
              <a:tblPr firstRow="1" firstCol="1" bandRow="1">
                <a:tableStyleId>{40370F0B-A904-4E3B-AF89-164FA076B2A4}</a:tableStyleId>
              </a:tblPr>
              <a:tblGrid>
                <a:gridCol w="2598024">
                  <a:extLst>
                    <a:ext uri="{9D8B030D-6E8A-4147-A177-3AD203B41FA5}">
                      <a16:colId xmlns:a16="http://schemas.microsoft.com/office/drawing/2014/main" val="2413776009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1807898596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551491298"/>
                    </a:ext>
                  </a:extLst>
                </a:gridCol>
              </a:tblGrid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Vulnerability Type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Description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Impact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647185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Brute Force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Weak passwords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Compromised accounts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3927582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SQL Injection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Unsecured query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Database access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8892491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XSS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Injected scripts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Code execution in browser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3048586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No HTTPS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Unencrypted data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Traffic interception (MITM)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9081547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No CAPTCHA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Lack of bot protection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Mass spam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7510291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File Upload Exploit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Malicious file upload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Server control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0581270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Directory Traversal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System file access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Data exposure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2175992"/>
                  </a:ext>
                </a:extLst>
              </a:tr>
            </a:tbl>
          </a:graphicData>
        </a:graphic>
      </p:graphicFrame>
      <p:pic>
        <p:nvPicPr>
          <p:cNvPr id="4" name="Google Shape;5129;p73">
            <a:extLst>
              <a:ext uri="{FF2B5EF4-FFF2-40B4-BE49-F238E27FC236}">
                <a16:creationId xmlns:a16="http://schemas.microsoft.com/office/drawing/2014/main" id="{3429A547-D6CE-DA5D-B0EE-3BB04C734F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189" y="129815"/>
            <a:ext cx="619820" cy="102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290;p41">
            <a:extLst>
              <a:ext uri="{FF2B5EF4-FFF2-40B4-BE49-F238E27FC236}">
                <a16:creationId xmlns:a16="http://schemas.microsoft.com/office/drawing/2014/main" id="{42FB97C9-1EAC-B2D5-619F-1378562FFDA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6786" y="62507"/>
            <a:ext cx="905420" cy="1024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>
          <a:extLst>
            <a:ext uri="{FF2B5EF4-FFF2-40B4-BE49-F238E27FC236}">
              <a16:creationId xmlns:a16="http://schemas.microsoft.com/office/drawing/2014/main" id="{4E8D0540-D526-9348-A010-BEEB729EF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>
            <a:extLst>
              <a:ext uri="{FF2B5EF4-FFF2-40B4-BE49-F238E27FC236}">
                <a16:creationId xmlns:a16="http://schemas.microsoft.com/office/drawing/2014/main" id="{B25AB73E-90A3-A14C-7882-58A37B3463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Testing (Demonstrated Attacks)</a:t>
            </a:r>
            <a:endParaRPr dirty="0"/>
          </a:p>
        </p:txBody>
      </p:sp>
      <p:sp>
        <p:nvSpPr>
          <p:cNvPr id="5138" name="Google Shape;5138;p74">
            <a:extLst>
              <a:ext uri="{FF2B5EF4-FFF2-40B4-BE49-F238E27FC236}">
                <a16:creationId xmlns:a16="http://schemas.microsoft.com/office/drawing/2014/main" id="{DF771007-E400-925E-A4CF-12F529C23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60D1C6-2488-480B-891E-32377B12D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16702"/>
              </p:ext>
            </p:extLst>
          </p:nvPr>
        </p:nvGraphicFramePr>
        <p:xfrm>
          <a:off x="687085" y="1531089"/>
          <a:ext cx="7743640" cy="2732401"/>
        </p:xfrm>
        <a:graphic>
          <a:graphicData uri="http://schemas.openxmlformats.org/drawingml/2006/table">
            <a:tbl>
              <a:tblPr firstRow="1" firstCol="1" bandRow="1">
                <a:tableStyleId>{40370F0B-A904-4E3B-AF89-164FA076B2A4}</a:tableStyleId>
              </a:tblPr>
              <a:tblGrid>
                <a:gridCol w="2598024">
                  <a:extLst>
                    <a:ext uri="{9D8B030D-6E8A-4147-A177-3AD203B41FA5}">
                      <a16:colId xmlns:a16="http://schemas.microsoft.com/office/drawing/2014/main" val="2413776009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1807898596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551491298"/>
                    </a:ext>
                  </a:extLst>
                </a:gridCol>
              </a:tblGrid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Test Type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Tool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647185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Vulnerability Scanning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OWASP ZAP, Nikto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Detect issues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3927582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Brute Force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Hydra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Password cracking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8892491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SQL Injection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sqlmap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Database access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3048586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XSS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Burp Suite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Input testing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9081547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MITM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Wireshark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Traffic interception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7510291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WordPress Scan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WPScan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CMS vulnerabilities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0581270"/>
                  </a:ext>
                </a:extLst>
              </a:tr>
            </a:tbl>
          </a:graphicData>
        </a:graphic>
      </p:graphicFrame>
      <p:pic>
        <p:nvPicPr>
          <p:cNvPr id="4" name="Google Shape;5129;p73">
            <a:extLst>
              <a:ext uri="{FF2B5EF4-FFF2-40B4-BE49-F238E27FC236}">
                <a16:creationId xmlns:a16="http://schemas.microsoft.com/office/drawing/2014/main" id="{36AE30DC-51B8-A9DB-68FF-F8DE753F57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400" y="368679"/>
            <a:ext cx="933714" cy="106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132;p73">
            <a:extLst>
              <a:ext uri="{FF2B5EF4-FFF2-40B4-BE49-F238E27FC236}">
                <a16:creationId xmlns:a16="http://schemas.microsoft.com/office/drawing/2014/main" id="{9A7F8673-1114-9D74-8BEC-BD72BECF81B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296" y="641002"/>
            <a:ext cx="1058046" cy="667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>
          <a:extLst>
            <a:ext uri="{FF2B5EF4-FFF2-40B4-BE49-F238E27FC236}">
              <a16:creationId xmlns:a16="http://schemas.microsoft.com/office/drawing/2014/main" id="{ED2E8901-4782-E096-7E7D-AA86C13C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>
            <a:extLst>
              <a:ext uri="{FF2B5EF4-FFF2-40B4-BE49-F238E27FC236}">
                <a16:creationId xmlns:a16="http://schemas.microsoft.com/office/drawing/2014/main" id="{552148B6-DE0C-674A-F4AA-39148F502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Securing Vulnerabilities</a:t>
            </a:r>
            <a:endParaRPr dirty="0"/>
          </a:p>
        </p:txBody>
      </p:sp>
      <p:sp>
        <p:nvSpPr>
          <p:cNvPr id="5138" name="Google Shape;5138;p74">
            <a:extLst>
              <a:ext uri="{FF2B5EF4-FFF2-40B4-BE49-F238E27FC236}">
                <a16:creationId xmlns:a16="http://schemas.microsoft.com/office/drawing/2014/main" id="{F5D3BC4D-5D9D-289B-F4BB-38B9F94F7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916D66-6D06-379B-6520-F8E0CB5D1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906772"/>
              </p:ext>
            </p:extLst>
          </p:nvPr>
        </p:nvGraphicFramePr>
        <p:xfrm>
          <a:off x="687572" y="1495647"/>
          <a:ext cx="7743640" cy="2732401"/>
        </p:xfrm>
        <a:graphic>
          <a:graphicData uri="http://schemas.openxmlformats.org/drawingml/2006/table">
            <a:tbl>
              <a:tblPr firstRow="1" firstCol="1" bandRow="1">
                <a:tableStyleId>{40370F0B-A904-4E3B-AF89-164FA076B2A4}</a:tableStyleId>
              </a:tblPr>
              <a:tblGrid>
                <a:gridCol w="2598024">
                  <a:extLst>
                    <a:ext uri="{9D8B030D-6E8A-4147-A177-3AD203B41FA5}">
                      <a16:colId xmlns:a16="http://schemas.microsoft.com/office/drawing/2014/main" val="2413776009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1807898596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551491298"/>
                    </a:ext>
                  </a:extLst>
                </a:gridCol>
              </a:tblGrid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Solution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647185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HTTPS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Certbot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Encrypted traffic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3927582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Bot Protection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Google reCAPTCHA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Spam blocking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8892491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Secure Login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Wordfence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2FA + login attempt limiting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3048586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Input Validation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Prepared statements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Eliminates SQLi and XSS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9081547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Firewall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Cloudflare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WAF and DDoS protection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7510291"/>
                  </a:ext>
                </a:extLst>
              </a:tr>
              <a:tr h="39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Security Headers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CSP, HSTS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Browser security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0581270"/>
                  </a:ext>
                </a:extLst>
              </a:tr>
            </a:tbl>
          </a:graphicData>
        </a:graphic>
      </p:graphicFrame>
      <p:pic>
        <p:nvPicPr>
          <p:cNvPr id="3" name="Google Shape;5132;p73">
            <a:extLst>
              <a:ext uri="{FF2B5EF4-FFF2-40B4-BE49-F238E27FC236}">
                <a16:creationId xmlns:a16="http://schemas.microsoft.com/office/drawing/2014/main" id="{80135074-BC29-E1D6-C819-7D58AA2DE5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123" y="445025"/>
            <a:ext cx="1058046" cy="667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815;p48">
            <a:extLst>
              <a:ext uri="{FF2B5EF4-FFF2-40B4-BE49-F238E27FC236}">
                <a16:creationId xmlns:a16="http://schemas.microsoft.com/office/drawing/2014/main" id="{3D416D5C-BD35-1D6F-4112-1F5F4A17BFB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896" y="329067"/>
            <a:ext cx="466208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814;p48">
            <a:extLst>
              <a:ext uri="{FF2B5EF4-FFF2-40B4-BE49-F238E27FC236}">
                <a16:creationId xmlns:a16="http://schemas.microsoft.com/office/drawing/2014/main" id="{2982090E-6D63-587F-AC21-8D43C0297D9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9375" y="344627"/>
            <a:ext cx="485280" cy="768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674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C12D-A12A-1A92-A9C5-6D296BFC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336" y="9402"/>
            <a:ext cx="1934831" cy="740700"/>
          </a:xfrm>
        </p:spPr>
        <p:txBody>
          <a:bodyPr/>
          <a:lstStyle/>
          <a:p>
            <a:r>
              <a:rPr lang="en-US" dirty="0"/>
              <a:t>Final Results</a:t>
            </a:r>
          </a:p>
        </p:txBody>
      </p:sp>
      <p:grpSp>
        <p:nvGrpSpPr>
          <p:cNvPr id="20" name="Google Shape;12224;p83">
            <a:extLst>
              <a:ext uri="{FF2B5EF4-FFF2-40B4-BE49-F238E27FC236}">
                <a16:creationId xmlns:a16="http://schemas.microsoft.com/office/drawing/2014/main" id="{02BA245B-12E8-B72D-4A4C-FCDC62744DAC}"/>
              </a:ext>
            </a:extLst>
          </p:cNvPr>
          <p:cNvGrpSpPr/>
          <p:nvPr/>
        </p:nvGrpSpPr>
        <p:grpSpPr>
          <a:xfrm>
            <a:off x="2417373" y="1211375"/>
            <a:ext cx="3508506" cy="1795619"/>
            <a:chOff x="2413923" y="3711366"/>
            <a:chExt cx="1374117" cy="703260"/>
          </a:xfrm>
        </p:grpSpPr>
        <p:grpSp>
          <p:nvGrpSpPr>
            <p:cNvPr id="21" name="Google Shape;12225;p83">
              <a:extLst>
                <a:ext uri="{FF2B5EF4-FFF2-40B4-BE49-F238E27FC236}">
                  <a16:creationId xmlns:a16="http://schemas.microsoft.com/office/drawing/2014/main" id="{C24199A7-66E8-EA7D-33DC-3EDB184799EF}"/>
                </a:ext>
              </a:extLst>
            </p:cNvPr>
            <p:cNvGrpSpPr/>
            <p:nvPr/>
          </p:nvGrpSpPr>
          <p:grpSpPr>
            <a:xfrm>
              <a:off x="2413923" y="3711366"/>
              <a:ext cx="1374117" cy="703260"/>
              <a:chOff x="2413923" y="3711366"/>
              <a:chExt cx="1374117" cy="703260"/>
            </a:xfrm>
          </p:grpSpPr>
          <p:sp>
            <p:nvSpPr>
              <p:cNvPr id="25" name="Google Shape;12226;p83">
                <a:extLst>
                  <a:ext uri="{FF2B5EF4-FFF2-40B4-BE49-F238E27FC236}">
                    <a16:creationId xmlns:a16="http://schemas.microsoft.com/office/drawing/2014/main" id="{E21B669A-E147-2131-E74D-A31DF026B4BD}"/>
                  </a:ext>
                </a:extLst>
              </p:cNvPr>
              <p:cNvSpPr/>
              <p:nvPr/>
            </p:nvSpPr>
            <p:spPr>
              <a:xfrm>
                <a:off x="2484774" y="3827200"/>
                <a:ext cx="1231201" cy="587426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" name="Google Shape;12227;p83">
                <a:extLst>
                  <a:ext uri="{FF2B5EF4-FFF2-40B4-BE49-F238E27FC236}">
                    <a16:creationId xmlns:a16="http://schemas.microsoft.com/office/drawing/2014/main" id="{70970D75-0BBA-78F0-B3A5-DAFBD103E316}"/>
                  </a:ext>
                </a:extLst>
              </p:cNvPr>
              <p:cNvGrpSpPr/>
              <p:nvPr/>
            </p:nvGrpSpPr>
            <p:grpSpPr>
              <a:xfrm>
                <a:off x="2600284" y="3808654"/>
                <a:ext cx="234506" cy="138009"/>
                <a:chOff x="2600284" y="3808654"/>
                <a:chExt cx="234506" cy="138009"/>
              </a:xfrm>
            </p:grpSpPr>
            <p:sp>
              <p:nvSpPr>
                <p:cNvPr id="39" name="Google Shape;12228;p83">
                  <a:extLst>
                    <a:ext uri="{FF2B5EF4-FFF2-40B4-BE49-F238E27FC236}">
                      <a16:creationId xmlns:a16="http://schemas.microsoft.com/office/drawing/2014/main" id="{36945DF8-0C07-BD04-516A-BB429F876F23}"/>
                    </a:ext>
                  </a:extLst>
                </p:cNvPr>
                <p:cNvSpPr/>
                <p:nvPr/>
              </p:nvSpPr>
              <p:spPr>
                <a:xfrm>
                  <a:off x="2767890" y="3879764"/>
                  <a:ext cx="66900" cy="669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0" name="Google Shape;12229;p83">
                  <a:extLst>
                    <a:ext uri="{FF2B5EF4-FFF2-40B4-BE49-F238E27FC236}">
                      <a16:creationId xmlns:a16="http://schemas.microsoft.com/office/drawing/2014/main" id="{41D5A62F-F1C4-B877-C1F1-F53F1875004D}"/>
                    </a:ext>
                  </a:extLst>
                </p:cNvPr>
                <p:cNvCxnSpPr/>
                <p:nvPr/>
              </p:nvCxnSpPr>
              <p:spPr>
                <a:xfrm rot="10800000">
                  <a:off x="2600284" y="3808654"/>
                  <a:ext cx="201000" cy="723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7" name="Google Shape;12230;p83">
                <a:extLst>
                  <a:ext uri="{FF2B5EF4-FFF2-40B4-BE49-F238E27FC236}">
                    <a16:creationId xmlns:a16="http://schemas.microsoft.com/office/drawing/2014/main" id="{89A11A5A-7570-306E-C013-78B844BD1C50}"/>
                  </a:ext>
                </a:extLst>
              </p:cNvPr>
              <p:cNvGrpSpPr/>
              <p:nvPr/>
            </p:nvGrpSpPr>
            <p:grpSpPr>
              <a:xfrm>
                <a:off x="3359659" y="3805664"/>
                <a:ext cx="232294" cy="141000"/>
                <a:chOff x="3359659" y="3805664"/>
                <a:chExt cx="232294" cy="141000"/>
              </a:xfrm>
            </p:grpSpPr>
            <p:sp>
              <p:nvSpPr>
                <p:cNvPr id="37" name="Google Shape;12231;p83">
                  <a:extLst>
                    <a:ext uri="{FF2B5EF4-FFF2-40B4-BE49-F238E27FC236}">
                      <a16:creationId xmlns:a16="http://schemas.microsoft.com/office/drawing/2014/main" id="{58AED082-952A-4F0D-45D8-DDC0FAF2C265}"/>
                    </a:ext>
                  </a:extLst>
                </p:cNvPr>
                <p:cNvSpPr/>
                <p:nvPr/>
              </p:nvSpPr>
              <p:spPr>
                <a:xfrm>
                  <a:off x="3359659" y="3879764"/>
                  <a:ext cx="66900" cy="669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8" name="Google Shape;12232;p83">
                  <a:extLst>
                    <a:ext uri="{FF2B5EF4-FFF2-40B4-BE49-F238E27FC236}">
                      <a16:creationId xmlns:a16="http://schemas.microsoft.com/office/drawing/2014/main" id="{A66C9B85-CC37-99D3-C93A-9B4C110CBBBF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393053" y="3805664"/>
                  <a:ext cx="198900" cy="780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" name="Google Shape;12233;p83">
                <a:extLst>
                  <a:ext uri="{FF2B5EF4-FFF2-40B4-BE49-F238E27FC236}">
                    <a16:creationId xmlns:a16="http://schemas.microsoft.com/office/drawing/2014/main" id="{A0F7D06D-4342-9DC7-0A2D-EF0E5A81DE87}"/>
                  </a:ext>
                </a:extLst>
              </p:cNvPr>
              <p:cNvGrpSpPr/>
              <p:nvPr/>
            </p:nvGrpSpPr>
            <p:grpSpPr>
              <a:xfrm>
                <a:off x="3067316" y="3711366"/>
                <a:ext cx="66900" cy="166809"/>
                <a:chOff x="3067316" y="3711366"/>
                <a:chExt cx="66900" cy="166809"/>
              </a:xfrm>
            </p:grpSpPr>
            <p:sp>
              <p:nvSpPr>
                <p:cNvPr id="35" name="Google Shape;12234;p83">
                  <a:extLst>
                    <a:ext uri="{FF2B5EF4-FFF2-40B4-BE49-F238E27FC236}">
                      <a16:creationId xmlns:a16="http://schemas.microsoft.com/office/drawing/2014/main" id="{9948EBC8-C689-21BD-E3E4-DE68B930A72F}"/>
                    </a:ext>
                  </a:extLst>
                </p:cNvPr>
                <p:cNvSpPr/>
                <p:nvPr/>
              </p:nvSpPr>
              <p:spPr>
                <a:xfrm>
                  <a:off x="3067316" y="3811276"/>
                  <a:ext cx="66900" cy="669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6" name="Google Shape;12235;p83">
                  <a:extLst>
                    <a:ext uri="{FF2B5EF4-FFF2-40B4-BE49-F238E27FC236}">
                      <a16:creationId xmlns:a16="http://schemas.microsoft.com/office/drawing/2014/main" id="{DB4356C2-E149-99F8-B950-D15377BE59E5}"/>
                    </a:ext>
                  </a:extLst>
                </p:cNvPr>
                <p:cNvCxnSpPr/>
                <p:nvPr/>
              </p:nvCxnSpPr>
              <p:spPr>
                <a:xfrm rot="-5400000">
                  <a:off x="3050460" y="3761616"/>
                  <a:ext cx="1011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9" name="Google Shape;12236;p83">
                <a:extLst>
                  <a:ext uri="{FF2B5EF4-FFF2-40B4-BE49-F238E27FC236}">
                    <a16:creationId xmlns:a16="http://schemas.microsoft.com/office/drawing/2014/main" id="{1D0C03B6-D8F7-F486-9244-E4AB139F48AD}"/>
                  </a:ext>
                </a:extLst>
              </p:cNvPr>
              <p:cNvGrpSpPr/>
              <p:nvPr/>
            </p:nvGrpSpPr>
            <p:grpSpPr>
              <a:xfrm>
                <a:off x="2413923" y="4058666"/>
                <a:ext cx="224119" cy="66900"/>
                <a:chOff x="2413923" y="4058666"/>
                <a:chExt cx="224119" cy="66900"/>
              </a:xfrm>
            </p:grpSpPr>
            <p:sp>
              <p:nvSpPr>
                <p:cNvPr id="33" name="Google Shape;12237;p83">
                  <a:extLst>
                    <a:ext uri="{FF2B5EF4-FFF2-40B4-BE49-F238E27FC236}">
                      <a16:creationId xmlns:a16="http://schemas.microsoft.com/office/drawing/2014/main" id="{737B753B-77CD-61C0-E122-87559BAD488A}"/>
                    </a:ext>
                  </a:extLst>
                </p:cNvPr>
                <p:cNvSpPr/>
                <p:nvPr/>
              </p:nvSpPr>
              <p:spPr>
                <a:xfrm>
                  <a:off x="2571142" y="4058666"/>
                  <a:ext cx="66900" cy="669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cxnSp>
              <p:nvCxnSpPr>
                <p:cNvPr id="34" name="Google Shape;12238;p83">
                  <a:extLst>
                    <a:ext uri="{FF2B5EF4-FFF2-40B4-BE49-F238E27FC236}">
                      <a16:creationId xmlns:a16="http://schemas.microsoft.com/office/drawing/2014/main" id="{FB3C1802-A152-B61B-8403-4BE9FA3FDCD6}"/>
                    </a:ext>
                  </a:extLst>
                </p:cNvPr>
                <p:cNvCxnSpPr/>
                <p:nvPr/>
              </p:nvCxnSpPr>
              <p:spPr>
                <a:xfrm flipH="1">
                  <a:off x="2413923" y="4092060"/>
                  <a:ext cx="1596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" name="Google Shape;12239;p83">
                <a:extLst>
                  <a:ext uri="{FF2B5EF4-FFF2-40B4-BE49-F238E27FC236}">
                    <a16:creationId xmlns:a16="http://schemas.microsoft.com/office/drawing/2014/main" id="{AE578FB3-0224-FA40-18C7-E181639D064B}"/>
                  </a:ext>
                </a:extLst>
              </p:cNvPr>
              <p:cNvGrpSpPr/>
              <p:nvPr/>
            </p:nvGrpSpPr>
            <p:grpSpPr>
              <a:xfrm>
                <a:off x="3564643" y="4058666"/>
                <a:ext cx="223397" cy="66900"/>
                <a:chOff x="3564643" y="4058666"/>
                <a:chExt cx="223397" cy="66900"/>
              </a:xfrm>
            </p:grpSpPr>
            <p:sp>
              <p:nvSpPr>
                <p:cNvPr id="31" name="Google Shape;12240;p83">
                  <a:extLst>
                    <a:ext uri="{FF2B5EF4-FFF2-40B4-BE49-F238E27FC236}">
                      <a16:creationId xmlns:a16="http://schemas.microsoft.com/office/drawing/2014/main" id="{F13390A8-6FB8-E0C6-E086-DA031E9074DF}"/>
                    </a:ext>
                  </a:extLst>
                </p:cNvPr>
                <p:cNvSpPr/>
                <p:nvPr/>
              </p:nvSpPr>
              <p:spPr>
                <a:xfrm>
                  <a:off x="3564643" y="4058666"/>
                  <a:ext cx="66900" cy="669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" name="Google Shape;12241;p83">
                  <a:extLst>
                    <a:ext uri="{FF2B5EF4-FFF2-40B4-BE49-F238E27FC236}">
                      <a16:creationId xmlns:a16="http://schemas.microsoft.com/office/drawing/2014/main" id="{31165C4A-3811-7228-6D96-6CAB2E11AF44}"/>
                    </a:ext>
                  </a:extLst>
                </p:cNvPr>
                <p:cNvCxnSpPr/>
                <p:nvPr/>
              </p:nvCxnSpPr>
              <p:spPr>
                <a:xfrm>
                  <a:off x="3630240" y="4092060"/>
                  <a:ext cx="1578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2" name="Google Shape;12242;p83">
              <a:extLst>
                <a:ext uri="{FF2B5EF4-FFF2-40B4-BE49-F238E27FC236}">
                  <a16:creationId xmlns:a16="http://schemas.microsoft.com/office/drawing/2014/main" id="{830F088D-C4BC-9727-552B-CF0041C8C550}"/>
                </a:ext>
              </a:extLst>
            </p:cNvPr>
            <p:cNvGrpSpPr/>
            <p:nvPr/>
          </p:nvGrpSpPr>
          <p:grpSpPr>
            <a:xfrm>
              <a:off x="2633353" y="3965763"/>
              <a:ext cx="933975" cy="445687"/>
              <a:chOff x="2633353" y="3965763"/>
              <a:chExt cx="933975" cy="445687"/>
            </a:xfrm>
          </p:grpSpPr>
          <p:sp>
            <p:nvSpPr>
              <p:cNvPr id="23" name="Google Shape;12243;p83">
                <a:extLst>
                  <a:ext uri="{FF2B5EF4-FFF2-40B4-BE49-F238E27FC236}">
                    <a16:creationId xmlns:a16="http://schemas.microsoft.com/office/drawing/2014/main" id="{6BC5166A-5464-0978-B616-B5B01C5DF369}"/>
                  </a:ext>
                </a:extLst>
              </p:cNvPr>
              <p:cNvSpPr/>
              <p:nvPr/>
            </p:nvSpPr>
            <p:spPr>
              <a:xfrm>
                <a:off x="2633353" y="3965763"/>
                <a:ext cx="933975" cy="445687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2244;p83">
                <a:extLst>
                  <a:ext uri="{FF2B5EF4-FFF2-40B4-BE49-F238E27FC236}">
                    <a16:creationId xmlns:a16="http://schemas.microsoft.com/office/drawing/2014/main" id="{C06990C8-5E60-C203-83B8-5132D80A89BE}"/>
                  </a:ext>
                </a:extLst>
              </p:cNvPr>
              <p:cNvSpPr/>
              <p:nvPr/>
            </p:nvSpPr>
            <p:spPr>
              <a:xfrm>
                <a:off x="2702006" y="4030399"/>
                <a:ext cx="798496" cy="381051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6B726B7-32CE-58A2-4317-3258365824DA}"/>
              </a:ext>
            </a:extLst>
          </p:cNvPr>
          <p:cNvSpPr txBox="1">
            <a:spLocks/>
          </p:cNvSpPr>
          <p:nvPr/>
        </p:nvSpPr>
        <p:spPr>
          <a:xfrm>
            <a:off x="835619" y="1244040"/>
            <a:ext cx="2505150" cy="4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US" sz="1600" b="0" dirty="0">
                <a:latin typeface="Advent Pro" panose="020B0604020202020204" charset="0"/>
              </a:rPr>
              <a:t>2. Scan for </a:t>
            </a:r>
            <a:r>
              <a:rPr lang="en-US" sz="1600" b="0" dirty="0" err="1">
                <a:latin typeface="Advent Pro" panose="020B0604020202020204" charset="0"/>
              </a:rPr>
              <a:t>vulnerabilityes</a:t>
            </a:r>
            <a:endParaRPr lang="en-US" sz="1600" b="0" dirty="0">
              <a:latin typeface="Advent Pro" panose="020B0604020202020204" charset="0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5F362869-E805-D011-98D3-AF2C14C16925}"/>
              </a:ext>
            </a:extLst>
          </p:cNvPr>
          <p:cNvSpPr txBox="1">
            <a:spLocks/>
          </p:cNvSpPr>
          <p:nvPr/>
        </p:nvSpPr>
        <p:spPr>
          <a:xfrm>
            <a:off x="223196" y="1946628"/>
            <a:ext cx="2505150" cy="4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US" sz="1600" b="0" dirty="0">
                <a:latin typeface="Advent Pro" panose="020B0604020202020204" charset="0"/>
              </a:rPr>
              <a:t>1. Deploy vulnerable website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736BB170-0ED4-D09B-EC35-475E7EA974EF}"/>
              </a:ext>
            </a:extLst>
          </p:cNvPr>
          <p:cNvSpPr txBox="1">
            <a:spLocks/>
          </p:cNvSpPr>
          <p:nvPr/>
        </p:nvSpPr>
        <p:spPr>
          <a:xfrm>
            <a:off x="3148038" y="750102"/>
            <a:ext cx="2505150" cy="4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US" sz="1600" b="0" dirty="0">
                <a:latin typeface="Advent Pro" panose="020B0604020202020204" charset="0"/>
              </a:rPr>
              <a:t>3. Demonstrate </a:t>
            </a:r>
            <a:r>
              <a:rPr lang="en-US" sz="1600" b="0" dirty="0" err="1">
                <a:latin typeface="Advent Pro" panose="020B0604020202020204" charset="0"/>
              </a:rPr>
              <a:t>attaks</a:t>
            </a:r>
            <a:endParaRPr lang="en-US" sz="1600" b="0" dirty="0">
              <a:latin typeface="Advent Pro" panose="020B0604020202020204" charset="0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98326DB3-42B2-C232-8191-EF60FDA7A9FE}"/>
              </a:ext>
            </a:extLst>
          </p:cNvPr>
          <p:cNvSpPr txBox="1">
            <a:spLocks/>
          </p:cNvSpPr>
          <p:nvPr/>
        </p:nvSpPr>
        <p:spPr>
          <a:xfrm>
            <a:off x="5409656" y="1233483"/>
            <a:ext cx="2505150" cy="4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US" sz="1600" b="0" dirty="0">
                <a:latin typeface="Advent Pro" panose="020B0604020202020204" charset="0"/>
              </a:rPr>
              <a:t>4. Implement Security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95AA5D89-38BE-5E29-81F1-9BBAF1721B4E}"/>
              </a:ext>
            </a:extLst>
          </p:cNvPr>
          <p:cNvSpPr txBox="1">
            <a:spLocks/>
          </p:cNvSpPr>
          <p:nvPr/>
        </p:nvSpPr>
        <p:spPr>
          <a:xfrm>
            <a:off x="5925879" y="1946628"/>
            <a:ext cx="2505150" cy="4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US" sz="1600" b="0" dirty="0">
                <a:latin typeface="Advent Pro" panose="020B0604020202020204" charset="0"/>
              </a:rPr>
              <a:t>5. Re-scan System</a:t>
            </a:r>
          </a:p>
        </p:txBody>
      </p:sp>
      <p:pic>
        <p:nvPicPr>
          <p:cNvPr id="46" name="Google Shape;3814;p48">
            <a:extLst>
              <a:ext uri="{FF2B5EF4-FFF2-40B4-BE49-F238E27FC236}">
                <a16:creationId xmlns:a16="http://schemas.microsoft.com/office/drawing/2014/main" id="{293C4550-7634-7501-D64F-084F49BF3F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8297" y="2098129"/>
            <a:ext cx="869155" cy="137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3815;p48">
            <a:extLst>
              <a:ext uri="{FF2B5EF4-FFF2-40B4-BE49-F238E27FC236}">
                <a16:creationId xmlns:a16="http://schemas.microsoft.com/office/drawing/2014/main" id="{8FB5E2CE-5907-4CEA-BA7B-C19CA8B0DED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139" y="2375020"/>
            <a:ext cx="577344" cy="917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Table 143">
            <a:extLst>
              <a:ext uri="{FF2B5EF4-FFF2-40B4-BE49-F238E27FC236}">
                <a16:creationId xmlns:a16="http://schemas.microsoft.com/office/drawing/2014/main" id="{BF18084F-3585-430A-67D0-8A461D46E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191800"/>
              </p:ext>
            </p:extLst>
          </p:nvPr>
        </p:nvGraphicFramePr>
        <p:xfrm>
          <a:off x="1147392" y="3710741"/>
          <a:ext cx="6506442" cy="1188210"/>
        </p:xfrm>
        <a:graphic>
          <a:graphicData uri="http://schemas.openxmlformats.org/drawingml/2006/table">
            <a:tbl>
              <a:tblPr firstRow="1" firstCol="1" bandRow="1">
                <a:tableStyleId>{40370F0B-A904-4E3B-AF89-164FA076B2A4}</a:tableStyleId>
              </a:tblPr>
              <a:tblGrid>
                <a:gridCol w="3253221">
                  <a:extLst>
                    <a:ext uri="{9D8B030D-6E8A-4147-A177-3AD203B41FA5}">
                      <a16:colId xmlns:a16="http://schemas.microsoft.com/office/drawing/2014/main" val="2298871599"/>
                    </a:ext>
                  </a:extLst>
                </a:gridCol>
                <a:gridCol w="3253221">
                  <a:extLst>
                    <a:ext uri="{9D8B030D-6E8A-4147-A177-3AD203B41FA5}">
                      <a16:colId xmlns:a16="http://schemas.microsoft.com/office/drawing/2014/main" val="4291497510"/>
                    </a:ext>
                  </a:extLst>
                </a:gridCol>
              </a:tblGrid>
              <a:tr h="396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Before Result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FFC000"/>
                          </a:solidFill>
                          <a:effectLst/>
                          <a:latin typeface="Advent Pro" panose="020B0604020202020204" charset="0"/>
                        </a:rPr>
                        <a:t>Vulnerable system</a:t>
                      </a:r>
                      <a:endParaRPr lang="en-US" sz="1800" b="1" dirty="0">
                        <a:solidFill>
                          <a:srgbClr val="FFC000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7884076"/>
                  </a:ext>
                </a:extLst>
              </a:tr>
              <a:tr h="396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After Result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Advent Pro" panose="020B0604020202020204" charset="0"/>
                        </a:rPr>
                        <a:t>Secured system</a:t>
                      </a:r>
                      <a:endParaRPr lang="en-US" sz="1800" b="1" dirty="0">
                        <a:solidFill>
                          <a:srgbClr val="00B050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15256194"/>
                  </a:ext>
                </a:extLst>
              </a:tr>
              <a:tr h="396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dvent Pro" panose="020B0604020202020204" charset="0"/>
                        </a:rPr>
                        <a:t>Conclusion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Advent Pro" panose="020B0604020202020204" charset="0"/>
                        </a:rPr>
                        <a:t>Significant improvement in security</a:t>
                      </a:r>
                      <a:endParaRPr lang="en-US" sz="1800" b="1" dirty="0">
                        <a:solidFill>
                          <a:srgbClr val="00B050"/>
                        </a:solidFill>
                        <a:effectLst/>
                        <a:latin typeface="Advent Pro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74218040"/>
                  </a:ext>
                </a:extLst>
              </a:tr>
            </a:tbl>
          </a:graphicData>
        </a:graphic>
      </p:graphicFrame>
      <p:pic>
        <p:nvPicPr>
          <p:cNvPr id="145" name="Google Shape;5132;p73">
            <a:extLst>
              <a:ext uri="{FF2B5EF4-FFF2-40B4-BE49-F238E27FC236}">
                <a16:creationId xmlns:a16="http://schemas.microsoft.com/office/drawing/2014/main" id="{7C977C94-02FB-06D0-C3FE-0AB02E00C9E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2006" y="3970953"/>
            <a:ext cx="1058046" cy="667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0838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307</Words>
  <Application>Microsoft Office PowerPoint</Application>
  <PresentationFormat>On-screen Show (16:9)</PresentationFormat>
  <Paragraphs>119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Advent Pro</vt:lpstr>
      <vt:lpstr>Alumni Sans Pinstripe</vt:lpstr>
      <vt:lpstr>Arial</vt:lpstr>
      <vt:lpstr>Cyber Security Kill Chain by Slidesgo</vt:lpstr>
      <vt:lpstr>CYBERSECURITY Final Project</vt:lpstr>
      <vt:lpstr>Project Objectives</vt:lpstr>
      <vt:lpstr>Brain Map</vt:lpstr>
      <vt:lpstr>Software and Technologies Used</vt:lpstr>
      <vt:lpstr>Vulnerability Identification</vt:lpstr>
      <vt:lpstr>Testing (Demonstrated Attacks)</vt:lpstr>
      <vt:lpstr>Securing Vulnerabilities</vt:lpstr>
      <vt:lpstr>Final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2</cp:revision>
  <dcterms:modified xsi:type="dcterms:W3CDTF">2026-04-03T20:48:20Z</dcterms:modified>
</cp:coreProperties>
</file>